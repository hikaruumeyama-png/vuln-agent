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216000" cy="541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620000"/>
            <a:ext cx="10752119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Noto Sans JP"/>
              </a:rPr>
              <a:t>脆弱性管理のAI自動化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060000"/>
            <a:ext cx="10752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ED7AA"/>
                </a:solidFill>
                <a:latin typeface="Noto Sans JP"/>
              </a:rPr>
              <a:t>SIDfm代替 — 11ソース自動収集・AI分析・SBOM照合・Chat通知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066000"/>
            <a:ext cx="10752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B923C"/>
                </a:solidFill>
                <a:latin typeface="Noto Sans JP"/>
              </a:rPr>
              <a:t>情報セキュリティチーム　　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現状の課題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007999"/>
            <a:ext cx="2472029" cy="324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0014" y="1187999"/>
            <a:ext cx="792000" cy="792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414" y="1346399"/>
            <a:ext cx="475200" cy="47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2087999"/>
            <a:ext cx="232802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2626"/>
                </a:solidFill>
                <a:latin typeface="Noto Sans JP"/>
              </a:rPr>
              <a:t>1</a:t>
            </a:r>
            <a:r>
              <a:rPr sz="1700">
                <a:solidFill>
                  <a:srgbClr val="57534E"/>
                </a:solidFill>
                <a:latin typeface="Noto Sans JP"/>
              </a:rPr>
              <a:t>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99999"/>
            <a:ext cx="232802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単一ソース依存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2951999"/>
            <a:ext cx="232802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Noto Sans JP"/>
              </a:rPr>
              <a:t>カバー範囲外の見逃しリスク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0029" y="1007999"/>
            <a:ext cx="2472029" cy="324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20043" y="1187999"/>
            <a:ext cx="792000" cy="792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443" y="1346399"/>
            <a:ext cx="475200" cy="475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52029" y="2087999"/>
            <a:ext cx="232802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2626"/>
                </a:solidFill>
                <a:latin typeface="Noto Sans JP"/>
              </a:rPr>
              <a:t>全手動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2029" y="2699999"/>
            <a:ext cx="232802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手作業ボトルネック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2029" y="2951999"/>
            <a:ext cx="232802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Noto Sans JP"/>
              </a:rPr>
              <a:t>確認→照合→連絡→記録すべて手動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059" y="1007999"/>
            <a:ext cx="2472029" cy="324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80073" y="1187999"/>
            <a:ext cx="792000" cy="792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473" y="1346399"/>
            <a:ext cx="475200" cy="475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12059" y="2087999"/>
            <a:ext cx="232802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97706"/>
                </a:solidFill>
                <a:latin typeface="Noto Sans JP"/>
              </a:rPr>
              <a:t>全件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2059" y="2699999"/>
            <a:ext cx="232802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通知ノイズ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2059" y="2951999"/>
            <a:ext cx="232802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Noto Sans JP"/>
              </a:rPr>
              <a:t>無関係な情報で重要通知が埋もれる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89" y="1007999"/>
            <a:ext cx="2472029" cy="324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40103" y="1187999"/>
            <a:ext cx="792000" cy="792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503" y="1346399"/>
            <a:ext cx="475200" cy="475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72089" y="2087999"/>
            <a:ext cx="232802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97706"/>
                </a:solidFill>
                <a:latin typeface="Noto Sans JP"/>
              </a:rPr>
              <a:t>固定費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089" y="2699999"/>
            <a:ext cx="232802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年間ライセンス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089" y="2951999"/>
            <a:ext cx="232802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Noto Sans JP"/>
              </a:rPr>
              <a:t>使用量に関わらず定額コスト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解決策: 4ステップの完全自動化</a:t>
            </a:r>
          </a:p>
        </p:txBody>
      </p:sp>
      <p:sp>
        <p:nvSpPr>
          <p:cNvPr id="5" name="Oval 4"/>
          <p:cNvSpPr/>
          <p:nvPr/>
        </p:nvSpPr>
        <p:spPr>
          <a:xfrm>
            <a:off x="1227014" y="1332000"/>
            <a:ext cx="1080000" cy="108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14" y="1548000"/>
            <a:ext cx="648000" cy="648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112614" y="1234800"/>
            <a:ext cx="324000" cy="3240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12614" y="12348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556000"/>
            <a:ext cx="245402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2410C"/>
                </a:solidFill>
                <a:latin typeface="Noto Sans JP"/>
              </a:rPr>
              <a:t>自動収集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2988000"/>
            <a:ext cx="231002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11の情報源を
30分ごとに巡回
人手不要で24/365稼働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30029" y="3132000"/>
            <a:ext cx="36000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113043" y="1332000"/>
            <a:ext cx="1080000" cy="108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043" y="1548000"/>
            <a:ext cx="648000" cy="6480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998643" y="1234800"/>
            <a:ext cx="324000" cy="3240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643" y="12348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6029" y="2556000"/>
            <a:ext cx="245402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2410C"/>
                </a:solidFill>
                <a:latin typeface="Noto Sans JP"/>
              </a:rPr>
              <a:t>自動判断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8029" y="2988000"/>
            <a:ext cx="231002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自社SBOMと照合
該当有無をAIが判定
ノイズを自動排除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16058" y="3132000"/>
            <a:ext cx="36000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999072" y="1332000"/>
            <a:ext cx="1080000" cy="108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072" y="1548000"/>
            <a:ext cx="648000" cy="64800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7884672" y="1234800"/>
            <a:ext cx="324000" cy="3240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4672" y="12348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2058" y="2556000"/>
            <a:ext cx="245402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2410C"/>
                </a:solidFill>
                <a:latin typeface="Noto Sans JP"/>
              </a:rPr>
              <a:t>自動通知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4058" y="2988000"/>
            <a:ext cx="231002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担当者を自動特定
Google Chatに通知
対処法も同時に提示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02087" y="3132000"/>
            <a:ext cx="36000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885101" y="1332000"/>
            <a:ext cx="1080000" cy="108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101" y="1548000"/>
            <a:ext cx="648000" cy="6480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0770701" y="1234800"/>
            <a:ext cx="324000" cy="3240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70701" y="12348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087" y="2556000"/>
            <a:ext cx="245402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2410C"/>
                </a:solidFill>
                <a:latin typeface="Noto Sans JP"/>
              </a:rPr>
              <a:t>AI分析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0087" y="2988000"/>
            <a:ext cx="231002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Chatで質問するだけ
AIが詳細を即回答
起票テキストも自動生成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Before / After 比較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900000"/>
            <a:ext cx="5556059" cy="540000"/>
          </a:xfrm>
          <a:prstGeom prst="roundRect">
            <a:avLst/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900000"/>
            <a:ext cx="555605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Before（SIDfm）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234000" cy="23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1548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情報源: SIDfm 1社のみ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268000"/>
            <a:ext cx="234000" cy="23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2000" y="2232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収集頻度: SIDfm依存（受動的）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952000"/>
            <a:ext cx="234000" cy="23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2916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影響判断: 手動でSBOM照合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636000"/>
            <a:ext cx="234000" cy="234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000" y="3600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担当者通知: 手動で連絡・調整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4320000"/>
            <a:ext cx="234000" cy="23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2000" y="4284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通知範囲: 全件通知（ノイズ大）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5004000"/>
            <a:ext cx="234000" cy="23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2000" y="4968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深掘り分析: 自分で調査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5688000"/>
            <a:ext cx="234000" cy="23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2000" y="5652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対応履歴: Excel手動記録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372000"/>
            <a:ext cx="234000" cy="23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2000" y="6336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費用: 年間ライセンス固定費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6059" y="900000"/>
            <a:ext cx="5556059" cy="54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6059" y="900000"/>
            <a:ext cx="555605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After（本システム）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59" y="1584000"/>
            <a:ext cx="234000" cy="23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08059" y="1548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情報源: 11ソース網羅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59" y="2268000"/>
            <a:ext cx="234000" cy="23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08059" y="2232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収集頻度: 30分ごと自動巡回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59" y="2952000"/>
            <a:ext cx="234000" cy="234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08059" y="2916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影響判断: AI自動照合（即時）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59" y="3636000"/>
            <a:ext cx="234000" cy="234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08059" y="3600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担当者通知: 自動特定・Chat通知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59" y="4320000"/>
            <a:ext cx="234000" cy="234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08059" y="4284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通知範囲: 該当のみ通知（ノイズゼロ）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59" y="5004000"/>
            <a:ext cx="234000" cy="234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08059" y="4968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深掘り分析: @メンションでAI即分析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59" y="5688000"/>
            <a:ext cx="234000" cy="234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08059" y="5652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対応履歴: 全件自動DB記録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59" y="6372000"/>
            <a:ext cx="234000" cy="234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08059" y="6336000"/>
            <a:ext cx="505206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C1917"/>
                </a:solidFill>
                <a:latin typeface="Noto Sans JP"/>
              </a:rPr>
              <a:t>費用: Google Cloud従量課金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システムの動き（全体フロー）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250101"/>
            <a:ext cx="11112119" cy="21597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0000" y="5670001"/>
            <a:ext cx="11112119" cy="100799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5814001"/>
            <a:ext cx="10752119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C1917"/>
                </a:solidFill>
                <a:latin typeface="Noto Sans JP"/>
              </a:rPr>
              <a:t>・人がやること: 通知を見る＋必要に応じてAIに質問する、それだけ　　・すべて自動で24時間365日稼働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11の情報ソース — 3カテゴリ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133998"/>
            <a:ext cx="306000" cy="30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2000" y="1079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━━ 公的データベース ━━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00119" y="1268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119" y="1268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正常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0000" y="1781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925998"/>
            <a:ext cx="306000" cy="30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2000" y="1871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NIST NVD（米国・世界最大の脆弱性DB）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000" y="2159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5,300+件処理済み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00119" y="2060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00119" y="2060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完了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0000" y="2573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717998"/>
            <a:ext cx="306000" cy="30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2000" y="2663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CISA KEV（実際に悪用されている脆弱性）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0" y="2951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悪用確認済み脆弱性に特化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00119" y="2852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00119" y="2852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完了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0000" y="3365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509998"/>
            <a:ext cx="306000" cy="306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2000" y="3455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JVN（日本向け脆弱性情報）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0" y="3743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国内製品の情報をカバー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00119" y="3644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00119" y="3644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完了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0000" y="4157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301998"/>
            <a:ext cx="306000" cy="30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72000" y="4247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OSV（Google運営・OSS特化）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0" y="4535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オープンソース脆弱性に対応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00119" y="4436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00119" y="4436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完了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0000" y="4949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5093998"/>
            <a:ext cx="306000" cy="306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72000" y="5039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━━ ベンダー公式API ━━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00119" y="5228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00119" y="5228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正常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0000" y="5741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5885998"/>
            <a:ext cx="306000" cy="30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2000" y="5831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Cisco（ネットワーク機器）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000" y="6119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OAuth2認証・CSAF 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00119" y="6020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00119" y="6020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完了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0000" y="6533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6677998"/>
            <a:ext cx="306000" cy="306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2000" y="6623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Microsoft MSRC（Windows/Office）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2000" y="6911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月例パッチ情報を自動取得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00119" y="6812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00119" y="6812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完了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11の情報ソース — 続き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133998"/>
            <a:ext cx="306000" cy="30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2000" y="1079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━━ ベンダー公式API（続き）━━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00119" y="1268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119" y="1268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正常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0000" y="1781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925998"/>
            <a:ext cx="306000" cy="30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2000" y="1871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Fortinet（ファイアウォール/VPN）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000" y="2159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PSIRT API対応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00119" y="2060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00119" y="2060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完了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0000" y="2573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717998"/>
            <a:ext cx="306000" cy="30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2000" y="2663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AlmaLinux（サーバーOS）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0" y="2951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OVAL/エラータ情報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00119" y="2852999"/>
            <a:ext cx="1152000" cy="270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00119" y="2852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完了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0000" y="3365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509998"/>
            <a:ext cx="306000" cy="306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72000" y="3455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━━ 社内利用製品 ━━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0" y="3743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スクレイピング対応（開発中）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00119" y="3644999"/>
            <a:ext cx="1152000" cy="27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00119" y="3644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警告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0000" y="4157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4301998"/>
            <a:ext cx="306000" cy="30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72000" y="4247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Zabbix（監視ツール）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0" y="4535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セキュリティアドバイザリ取得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00119" y="4436999"/>
            <a:ext cx="1152000" cy="27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00119" y="4436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進行中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0000" y="4949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5093998"/>
            <a:ext cx="306000" cy="306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72000" y="5039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MOTEX/LanScope（IT資産管理）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000" y="5327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リリースノート解析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00119" y="5228999"/>
            <a:ext cx="1152000" cy="27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00119" y="5228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進行中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0000" y="5741999"/>
            <a:ext cx="11112119" cy="0"/>
          </a:xfrm>
          <a:prstGeom prst="line">
            <a:avLst/>
          </a:prstGeom>
          <a:ln w="635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5885998"/>
            <a:ext cx="306000" cy="30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72000" y="5831999"/>
            <a:ext cx="8232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Noto Sans JP"/>
              </a:rPr>
              <a:t>SKYSEA（端末管理）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000" y="6119999"/>
            <a:ext cx="8232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57534E"/>
                </a:solidFill>
                <a:latin typeface="Noto Sans JP"/>
              </a:rPr>
              <a:t>脆弱性情報ページ解析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00119" y="6020999"/>
            <a:ext cx="1152000" cy="27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00119" y="6020999"/>
            <a:ext cx="11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進行中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Google Chat統合 — 3つの使い方</a:t>
            </a:r>
          </a:p>
        </p:txBody>
      </p:sp>
      <p:sp>
        <p:nvSpPr>
          <p:cNvPr id="5" name="Oval 4"/>
          <p:cNvSpPr/>
          <p:nvPr/>
        </p:nvSpPr>
        <p:spPr>
          <a:xfrm>
            <a:off x="1708019" y="1332000"/>
            <a:ext cx="1080000" cy="108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19" y="1548000"/>
            <a:ext cx="648000" cy="6480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593619" y="1234800"/>
            <a:ext cx="324000" cy="3240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3619" y="12348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556000"/>
            <a:ext cx="341603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2410C"/>
                </a:solidFill>
                <a:latin typeface="Noto Sans JP"/>
              </a:rPr>
              <a:t>自動通知を受け取る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2988000"/>
            <a:ext cx="327203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脆弱性カード形式で
CVE・影響範囲・期限
対処法を即座に表示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92039" y="3132000"/>
            <a:ext cx="36000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556058" y="1332000"/>
            <a:ext cx="1080000" cy="108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058" y="1548000"/>
            <a:ext cx="648000" cy="6480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441658" y="1234800"/>
            <a:ext cx="324000" cy="3240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658" y="12348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8039" y="2556000"/>
            <a:ext cx="341603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2410C"/>
                </a:solidFill>
                <a:latin typeface="Noto Sans JP"/>
              </a:rPr>
              <a:t>AIに質問する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0039" y="2988000"/>
            <a:ext cx="327203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@メンションで
影響度・過去対応・
起票テキストを即回答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40078" y="3132000"/>
            <a:ext cx="36000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404097" y="1332000"/>
            <a:ext cx="1080000" cy="108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097" y="1548000"/>
            <a:ext cx="648000" cy="64800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10289697" y="1234800"/>
            <a:ext cx="324000" cy="3240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9697" y="12348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6078" y="2556000"/>
            <a:ext cx="341603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2410C"/>
                </a:solidFill>
                <a:latin typeface="Noto Sans JP"/>
              </a:rPr>
              <a:t>既存運用と互換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8078" y="2988000"/>
            <a:ext cx="327203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SIDfmメール→Chat転送
？リアクションで自動分析
段階的に移行可能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自動検知パイプライン詳細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158" y="900000"/>
            <a:ext cx="4715802" cy="486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0000" y="5670001"/>
            <a:ext cx="11112119" cy="100799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5814001"/>
            <a:ext cx="10752119" cy="71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C1917"/>
                </a:solidFill>
                <a:latin typeface="Noto Sans JP"/>
              </a:rPr>
              <a:t>・重複排除: 二重対応を完全防止　　・ノイズ排除: SBOM非該当は通知しない　　・全件記録: 通知有無に関わらず自動記録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現在の稼働状況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007999"/>
            <a:ext cx="3392039" cy="324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20019" y="1187999"/>
            <a:ext cx="792000" cy="792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419" y="1346399"/>
            <a:ext cx="475200" cy="47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2087999"/>
            <a:ext cx="324803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Noto Sans JP"/>
              </a:rPr>
              <a:t>8</a:t>
            </a:r>
            <a:r>
              <a:rPr sz="1700">
                <a:solidFill>
                  <a:srgbClr val="57534E"/>
                </a:solidFill>
                <a:latin typeface="Noto Sans JP"/>
              </a:rPr>
              <a:t>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2699999"/>
            <a:ext cx="324803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ソース稼働中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2951999"/>
            <a:ext cx="324803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JP"/>
              </a:rPr>
              <a:t>▲ 残り3ソースは開発中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0039" y="1007999"/>
            <a:ext cx="3392039" cy="324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00058" y="1187999"/>
            <a:ext cx="792000" cy="792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458" y="1346399"/>
            <a:ext cx="475200" cy="475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72039" y="2087999"/>
            <a:ext cx="324803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Noto Sans JP"/>
              </a:rPr>
              <a:t>3,200</a:t>
            </a:r>
            <a:r>
              <a:rPr sz="1700">
                <a:solidFill>
                  <a:srgbClr val="57534E"/>
                </a:solidFill>
                <a:latin typeface="Noto Sans JP"/>
              </a:rPr>
              <a:t>+件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039" y="2699999"/>
            <a:ext cx="324803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脆弱性自動登録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039" y="2951999"/>
            <a:ext cx="324803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JP"/>
              </a:rPr>
              <a:t>▲ NVD含む全ソース合計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0079" y="1007999"/>
            <a:ext cx="3392039" cy="324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80098" y="1187999"/>
            <a:ext cx="792000" cy="792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498" y="1346399"/>
            <a:ext cx="475200" cy="475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52079" y="2087999"/>
            <a:ext cx="324803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6A34A"/>
                </a:solidFill>
                <a:latin typeface="Noto Sans JP"/>
              </a:rPr>
              <a:t>E2E完了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2079" y="2699999"/>
            <a:ext cx="324803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7534E"/>
                </a:solidFill>
                <a:latin typeface="Noto Sans JP"/>
              </a:rPr>
              <a:t>エンドツーエンド検証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2079" y="2951999"/>
            <a:ext cx="324803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JP"/>
              </a:rPr>
              <a:t>収集→照合→通知→記録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移行ロードマップ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0000" y="2700000"/>
            <a:ext cx="11112119" cy="0"/>
          </a:xfrm>
          <a:prstGeom prst="line">
            <a:avLst/>
          </a:prstGeom>
          <a:ln w="38100">
            <a:solidFill>
              <a:srgbClr val="FED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140020" y="2448000"/>
            <a:ext cx="503999" cy="503999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999" y="1080000"/>
            <a:ext cx="370403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7534E"/>
                </a:solidFill>
                <a:latin typeface="Noto Sans JP"/>
              </a:rPr>
              <a:t>Phase 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19" y="1404000"/>
            <a:ext cx="720000" cy="7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999" y="2232000"/>
            <a:ext cx="3704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Noto Sans JP"/>
              </a:rPr>
              <a:t>基盤構築・並行稼働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99" y="3132000"/>
            <a:ext cx="3488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C1917"/>
                </a:solidFill>
                <a:latin typeface="Noto Sans JP"/>
              </a:rPr>
              <a:t>・ 11ソースアダプター開発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999" y="3564000"/>
            <a:ext cx="3488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C1917"/>
                </a:solidFill>
                <a:latin typeface="Noto Sans JP"/>
              </a:rPr>
              <a:t>・ パイプライン構築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3996000"/>
            <a:ext cx="3488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C1917"/>
                </a:solidFill>
                <a:latin typeface="Noto Sans JP"/>
              </a:rPr>
              <a:t>・ 8ソース本番稼働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88020" y="2664000"/>
            <a:ext cx="1007999" cy="234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88020" y="2664000"/>
            <a:ext cx="100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完了</a:t>
            </a:r>
          </a:p>
        </p:txBody>
      </p:sp>
      <p:sp>
        <p:nvSpPr>
          <p:cNvPr id="15" name="Oval 14"/>
          <p:cNvSpPr/>
          <p:nvPr/>
        </p:nvSpPr>
        <p:spPr>
          <a:xfrm>
            <a:off x="5844060" y="2448000"/>
            <a:ext cx="503999" cy="503999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4039" y="1080000"/>
            <a:ext cx="370403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7534E"/>
                </a:solidFill>
                <a:latin typeface="Noto Sans JP"/>
              </a:rPr>
              <a:t>Phase 2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059" y="1404000"/>
            <a:ext cx="720000" cy="72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44039" y="2232000"/>
            <a:ext cx="3704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Noto Sans JP"/>
              </a:rPr>
              <a:t>全ソース稼働・安定化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039" y="3132000"/>
            <a:ext cx="3488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C1917"/>
                </a:solidFill>
                <a:latin typeface="Noto Sans JP"/>
              </a:rPr>
              <a:t>・ スクレイピング3ソース追加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039" y="3564000"/>
            <a:ext cx="3488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C1917"/>
                </a:solidFill>
                <a:latin typeface="Noto Sans JP"/>
              </a:rPr>
              <a:t>・ SIDfm並行運用で精度検証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039" y="3996000"/>
            <a:ext cx="3488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C1917"/>
                </a:solidFill>
                <a:latin typeface="Noto Sans JP"/>
              </a:rPr>
              <a:t>・ 運用ドキュメント整備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92060" y="2664000"/>
            <a:ext cx="1007999" cy="234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2060" y="2664000"/>
            <a:ext cx="100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進行中</a:t>
            </a:r>
          </a:p>
        </p:txBody>
      </p:sp>
      <p:sp>
        <p:nvSpPr>
          <p:cNvPr id="24" name="Oval 23"/>
          <p:cNvSpPr/>
          <p:nvPr/>
        </p:nvSpPr>
        <p:spPr>
          <a:xfrm>
            <a:off x="9548099" y="2448000"/>
            <a:ext cx="503999" cy="503999"/>
          </a:xfrm>
          <a:prstGeom prst="ellipse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48079" y="1080000"/>
            <a:ext cx="370403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7534E"/>
                </a:solidFill>
                <a:latin typeface="Noto Sans JP"/>
              </a:rPr>
              <a:t>Phase 3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0099" y="1404000"/>
            <a:ext cx="720000" cy="72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48079" y="2232000"/>
            <a:ext cx="3704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7534E"/>
                </a:solidFill>
                <a:latin typeface="Noto Sans JP"/>
              </a:rPr>
              <a:t>SIDfm廃止・完全移行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6079" y="3132000"/>
            <a:ext cx="3488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C1917"/>
                </a:solidFill>
                <a:latin typeface="Noto Sans JP"/>
              </a:rPr>
              <a:t>・ SIDfm契約終了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6079" y="3564000"/>
            <a:ext cx="3488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C1917"/>
                </a:solidFill>
                <a:latin typeface="Noto Sans JP"/>
              </a:rPr>
              <a:t>・ 新基盤単独運用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6079" y="3996000"/>
            <a:ext cx="348803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C1917"/>
                </a:solidFill>
                <a:latin typeface="Noto Sans JP"/>
              </a:rPr>
              <a:t>・ KPIモニタリング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6099" y="2664000"/>
            <a:ext cx="1007999" cy="234000"/>
          </a:xfrm>
          <a:prstGeom prst="roundRect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6099" y="2664000"/>
            <a:ext cx="1007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予定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1132811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</a:rPr>
              <a:t>まとめ: 脆弱性管理を「受動」から「能動」へ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07999"/>
            <a:ext cx="2562029" cy="4842001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007999"/>
            <a:ext cx="2562029" cy="21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014" y="1331999"/>
            <a:ext cx="900000" cy="90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014" y="1511999"/>
            <a:ext cx="540000" cy="54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8000" y="2375999"/>
            <a:ext cx="234602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2410C"/>
                </a:solidFill>
                <a:latin typeface="Noto Sans JP"/>
              </a:rPr>
              <a:t>11情報ソース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771999"/>
            <a:ext cx="2274029" cy="293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SIDfm 1社から
11ソースへ拡大
見逃しリスクを最小化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029" y="1007999"/>
            <a:ext cx="2562029" cy="4842001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0029" y="1007999"/>
            <a:ext cx="2562029" cy="21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21044" y="1331999"/>
            <a:ext cx="900000" cy="90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044" y="1511999"/>
            <a:ext cx="540000" cy="54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98029" y="2375999"/>
            <a:ext cx="234602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2410C"/>
                </a:solidFill>
                <a:latin typeface="Noto Sans JP"/>
              </a:rPr>
              <a:t>30分間隔で自動巡回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4029" y="2771999"/>
            <a:ext cx="2274029" cy="293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24時間365日
完全自動で稼働
人手ゼロで即時検知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059" y="1007999"/>
            <a:ext cx="2562029" cy="4842001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0059" y="1007999"/>
            <a:ext cx="2562029" cy="21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71074" y="1331999"/>
            <a:ext cx="900000" cy="90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074" y="1511999"/>
            <a:ext cx="540000" cy="54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8059" y="2375999"/>
            <a:ext cx="234602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2410C"/>
                </a:solidFill>
                <a:latin typeface="Noto Sans JP"/>
              </a:rPr>
              <a:t>AIが能動的に監視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4059" y="2771999"/>
            <a:ext cx="2274029" cy="293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メールを待つのではなく
AIが世界中の情報源を
能動的に監視・判断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0089" y="1007999"/>
            <a:ext cx="2562029" cy="4842001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0089" y="1007999"/>
            <a:ext cx="2562029" cy="21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21104" y="1331999"/>
            <a:ext cx="900000" cy="900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104" y="1511999"/>
            <a:ext cx="540000" cy="54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98089" y="2375999"/>
            <a:ext cx="234602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2410C"/>
                </a:solidFill>
                <a:latin typeface="Noto Sans JP"/>
              </a:rPr>
              <a:t>適切な人に即座に届く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4089" y="2771999"/>
            <a:ext cx="2274029" cy="293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1C1917"/>
                </a:solidFill>
                <a:latin typeface="Noto Sans JP"/>
              </a:rPr>
              <a:t>自社に関係ある脆弱性だけを
適切な担当者に
即座に通知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000" y="5994000"/>
            <a:ext cx="11112119" cy="720000"/>
          </a:xfrm>
          <a:prstGeom prst="round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" y="5994000"/>
            <a:ext cx="11112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2410C"/>
                </a:solidFill>
                <a:latin typeface="Noto Sans JP"/>
              </a:rPr>
              <a:t>SIDfmと並行運用して精度検証 → 段階的に完全移行（既存フローへの影響ゼロ）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